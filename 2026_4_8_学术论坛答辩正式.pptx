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459" r:id="rId2"/>
    <p:sldId id="501" r:id="rId3"/>
    <p:sldId id="524" r:id="rId4"/>
    <p:sldId id="525" r:id="rId5"/>
    <p:sldId id="526" r:id="rId6"/>
    <p:sldId id="479" r:id="rId7"/>
    <p:sldId id="507" r:id="rId8"/>
    <p:sldId id="514" r:id="rId9"/>
    <p:sldId id="287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695192791@qq.com" initials="6" lastIdx="4" clrIdx="0"/>
  <p:cmAuthor id="2" name="汤 家凯" initials="汤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DD36D"/>
    <a:srgbClr val="DFDFDF"/>
    <a:srgbClr val="DEDEDE"/>
    <a:srgbClr val="EFEFEF"/>
    <a:srgbClr val="B39235"/>
    <a:srgbClr val="FCFBE6"/>
    <a:srgbClr val="BDD7EE"/>
    <a:srgbClr val="A9D18E"/>
    <a:srgbClr val="FFF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6" autoAdjust="0"/>
    <p:restoredTop sz="89544" autoAdjust="0"/>
  </p:normalViewPr>
  <p:slideViewPr>
    <p:cSldViewPr snapToGrid="0">
      <p:cViewPr varScale="1">
        <p:scale>
          <a:sx n="145" d="100"/>
          <a:sy n="145" d="100"/>
        </p:scale>
        <p:origin x="2052" y="10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CCBA8-DC52-AC45-9FED-2D5CBA047DD1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BACF6-DFC0-CF45-AEF4-0779A235D6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89781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DF174-AD40-3B9E-5304-B6333498E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924375-CD99-CBDA-C0E5-7A7DFA6631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B9E957-7FFE-7FC7-8B8D-CE8CBE965E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47BCA1-638B-A66C-B210-067542433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C3F19-532C-4836-AB5A-5A9132B4A718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2</a:t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1806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B5EEA-FA90-1621-D5FC-1587FEC10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D5C468-D498-F098-C71C-BCEB4DD39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36E72D7-43B6-8760-B239-6E7167E16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EBF87C-C343-D5A1-9DF7-F86C9BB226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C3F19-532C-4836-AB5A-5A9132B4A718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3</a:t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4460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3C4B3-D6DD-0217-729C-96D6B866C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D8FA30-16A3-9A87-49E4-09B2C4D75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6D80573-CEAD-3277-A827-D5E9C5ADA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E68B8F-ABA6-0FDF-0364-8983120A51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C3F19-532C-4836-AB5A-5A9132B4A718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4</a:t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4154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79EE9-42D4-1F3D-94C1-B34E84935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909B11-8CC7-1269-7AB2-569A858167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E7485B3-D5A6-433C-92D5-DF9C05EF3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D50CB8-C1B0-9F6A-FC49-A2F198237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C3F19-532C-4836-AB5A-5A9132B4A718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5</a:t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6003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C3F19-532C-4836-AB5A-5A9132B4A718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6</a:t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DB1AB-7A24-6DA6-C9D3-353B44176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0DDCD07-98CA-FD67-0EC4-1041324B3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73C679-F218-5992-34C9-CB1B551D3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17E060-6C34-24C7-3622-179AAAB6DF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C3F19-532C-4836-AB5A-5A9132B4A718}" type="slidenum">
              <a:rPr lang="zh-CN" altLang="en-US" smtClean="0">
                <a:solidFill>
                  <a:prstClr val="black"/>
                </a:solidFill>
                <a:latin typeface="DengXian" panose="020F0502020204030204"/>
                <a:ea typeface="DengXian" panose="02010600030101010101" pitchFamily="2" charset="-122"/>
              </a:rPr>
              <a:t>7</a:t>
            </a:fld>
            <a:endParaRPr lang="zh-CN" altLang="en-US">
              <a:solidFill>
                <a:prstClr val="black"/>
              </a:solidFill>
              <a:latin typeface="DengXian" panose="020F0502020204030204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7055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C3F19-532C-4836-AB5A-5A9132B4A718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8</a:t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BACF6-DFC0-CF45-AEF4-0779A235D6AF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5693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9BCFD-44A0-254E-A407-921C7DAC8ECF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29F43-B211-0247-BB5E-91D57BBBB9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9BCFD-44A0-254E-A407-921C7DAC8ECF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29F43-B211-0247-BB5E-91D57BBBB9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9BCFD-44A0-254E-A407-921C7DAC8ECF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29F43-B211-0247-BB5E-91D57BBBB9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9BCFD-44A0-254E-A407-921C7DAC8ECF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29F43-B211-0247-BB5E-91D57BBBB9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9BCFD-44A0-254E-A407-921C7DAC8ECF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29F43-B211-0247-BB5E-91D57BBBB9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9BCFD-44A0-254E-A407-921C7DAC8ECF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29F43-B211-0247-BB5E-91D57BBBB9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9BCFD-44A0-254E-A407-921C7DAC8ECF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29F43-B211-0247-BB5E-91D57BBBB9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9BCFD-44A0-254E-A407-921C7DAC8ECF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29F43-B211-0247-BB5E-91D57BBBB9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9BCFD-44A0-254E-A407-921C7DAC8ECF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29F43-B211-0247-BB5E-91D57BBBB9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9BCFD-44A0-254E-A407-921C7DAC8ECF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29F43-B211-0247-BB5E-91D57BBBB9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9BCFD-44A0-254E-A407-921C7DAC8ECF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29F43-B211-0247-BB5E-91D57BBBB9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9BCFD-44A0-254E-A407-921C7DAC8ECF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29F43-B211-0247-BB5E-91D57BBBB9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microsoft.com/office/2007/relationships/hdphoto" Target="../media/hdphoto1.wdp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openxmlformats.org/officeDocument/2006/relationships/image" Target="../media/image9.png"/><Relationship Id="rId19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>
            <a:spLocks/>
          </p:cNvSpPr>
          <p:nvPr/>
        </p:nvSpPr>
        <p:spPr>
          <a:xfrm>
            <a:off x="0" y="2196352"/>
            <a:ext cx="9144000" cy="1562847"/>
          </a:xfrm>
          <a:prstGeom prst="rect">
            <a:avLst/>
          </a:prstGeom>
          <a:solidFill>
            <a:srgbClr val="02409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r>
              <a:rPr lang="en-US" altLang="zh-CN" sz="28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GER-LLM: Efficient and Effective </a:t>
            </a:r>
          </a:p>
          <a:p>
            <a:pPr algn="ctr">
              <a:spcBef>
                <a:spcPct val="0"/>
              </a:spcBef>
              <a:defRPr/>
            </a:pPr>
            <a:r>
              <a:rPr lang="en-US" altLang="zh-CN" sz="28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Geospatial Entity Resolution</a:t>
            </a:r>
          </a:p>
          <a:p>
            <a:pPr algn="ctr">
              <a:spcBef>
                <a:spcPct val="0"/>
              </a:spcBef>
              <a:defRPr/>
            </a:pPr>
            <a:r>
              <a:rPr lang="en-US" altLang="zh-CN" sz="28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with Large Language Model</a:t>
            </a:r>
            <a:endParaRPr lang="zh-CN" altLang="en-US" sz="28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副标题 2"/>
          <p:cNvSpPr>
            <a:spLocks noGrp="1"/>
          </p:cNvSpPr>
          <p:nvPr>
            <p:ph type="subTitle" idx="1"/>
          </p:nvPr>
        </p:nvSpPr>
        <p:spPr>
          <a:xfrm>
            <a:off x="1313371" y="4644945"/>
            <a:ext cx="6517257" cy="130524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endParaRPr lang="en-US" altLang="zh-CN" sz="1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School of Computer Science and Engineering, Southeast University, Nanjing, 210096</a:t>
            </a:r>
          </a:p>
        </p:txBody>
      </p:sp>
      <p:pic>
        <p:nvPicPr>
          <p:cNvPr id="5" name="图片 3" descr="seu.png">
            <a:extLst>
              <a:ext uri="{FF2B5EF4-FFF2-40B4-BE49-F238E27FC236}">
                <a16:creationId xmlns:a16="http://schemas.microsoft.com/office/drawing/2014/main" id="{A01D610A-3C6C-4C49-A9B0-0C32D2172A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448" y="590780"/>
            <a:ext cx="869522" cy="1018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65EFFF7B-6C9F-4578-B855-DFCBF3527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2976" y="838203"/>
            <a:ext cx="52116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charset="0"/>
                <a:ea typeface="宋体" charset="0"/>
                <a:cs typeface="宋体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algn="ctr"/>
            <a:r>
              <a:rPr kumimoji="0" lang="zh-CN" altLang="en-US" sz="2800" dirty="0">
                <a:latin typeface="微软雅黑" charset="0"/>
                <a:ea typeface="微软雅黑" charset="0"/>
                <a:cs typeface="微软雅黑" charset="0"/>
              </a:rPr>
              <a:t>计软智学院研究生学术论坛答辩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-1" y="589788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April 8, 2026</a:t>
            </a:r>
          </a:p>
        </p:txBody>
      </p:sp>
    </p:spTree>
    <p:extLst>
      <p:ext uri="{BB962C8B-B14F-4D97-AF65-F5344CB8AC3E}">
        <p14:creationId xmlns:p14="http://schemas.microsoft.com/office/powerpoint/2010/main" val="1995118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655EF-459F-7D0D-34EC-A735588E4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3">
            <a:extLst>
              <a:ext uri="{FF2B5EF4-FFF2-40B4-BE49-F238E27FC236}">
                <a16:creationId xmlns:a16="http://schemas.microsoft.com/office/drawing/2014/main" id="{7E90986D-127F-170E-DC56-98525078101F}"/>
              </a:ext>
            </a:extLst>
          </p:cNvPr>
          <p:cNvSpPr txBox="1"/>
          <p:nvPr/>
        </p:nvSpPr>
        <p:spPr>
          <a:xfrm>
            <a:off x="0" y="-26988"/>
            <a:ext cx="9144000" cy="863601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951" name="直接连接符 19">
            <a:extLst>
              <a:ext uri="{FF2B5EF4-FFF2-40B4-BE49-F238E27FC236}">
                <a16:creationId xmlns:a16="http://schemas.microsoft.com/office/drawing/2014/main" id="{7A8BEAAD-811D-2658-0B87-9536933F209F}"/>
              </a:ext>
            </a:extLst>
          </p:cNvPr>
          <p:cNvCxnSpPr/>
          <p:nvPr/>
        </p:nvCxnSpPr>
        <p:spPr bwMode="auto">
          <a:xfrm flipH="1">
            <a:off x="449263" y="-25400"/>
            <a:ext cx="1587" cy="841375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2" name="直接连接符 20">
            <a:extLst>
              <a:ext uri="{FF2B5EF4-FFF2-40B4-BE49-F238E27FC236}">
                <a16:creationId xmlns:a16="http://schemas.microsoft.com/office/drawing/2014/main" id="{84436AB4-C199-97B1-0494-D35CE08C1C8E}"/>
              </a:ext>
            </a:extLst>
          </p:cNvPr>
          <p:cNvCxnSpPr/>
          <p:nvPr/>
        </p:nvCxnSpPr>
        <p:spPr bwMode="auto">
          <a:xfrm flipH="1">
            <a:off x="511175" y="-26988"/>
            <a:ext cx="1588" cy="554038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3" name="直接连接符 30">
            <a:extLst>
              <a:ext uri="{FF2B5EF4-FFF2-40B4-BE49-F238E27FC236}">
                <a16:creationId xmlns:a16="http://schemas.microsoft.com/office/drawing/2014/main" id="{F2F0E45C-A27B-2351-6A8A-2190B7CCCB7F}"/>
              </a:ext>
            </a:extLst>
          </p:cNvPr>
          <p:cNvCxnSpPr/>
          <p:nvPr/>
        </p:nvCxnSpPr>
        <p:spPr bwMode="auto">
          <a:xfrm>
            <a:off x="576263" y="-26988"/>
            <a:ext cx="0" cy="298451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Box 19">
            <a:extLst>
              <a:ext uri="{FF2B5EF4-FFF2-40B4-BE49-F238E27FC236}">
                <a16:creationId xmlns:a16="http://schemas.microsoft.com/office/drawing/2014/main" id="{4E431E19-790E-0DBF-4462-1DA8D5957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42874"/>
            <a:ext cx="8342188" cy="55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Background &amp; Motivation</a:t>
            </a:r>
            <a:endParaRPr lang="zh-CN" altLang="en-US" sz="3000" b="1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EFCD842D-40BC-0D75-1FF0-70DBAA61504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45" t="13456" r="20391" b="9170"/>
          <a:stretch/>
        </p:blipFill>
        <p:spPr>
          <a:xfrm>
            <a:off x="442833" y="1783368"/>
            <a:ext cx="1898356" cy="2073084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2617B99E-D5AC-9BE2-CA77-6CF3590A9DAF}"/>
              </a:ext>
            </a:extLst>
          </p:cNvPr>
          <p:cNvGrpSpPr/>
          <p:nvPr/>
        </p:nvGrpSpPr>
        <p:grpSpPr>
          <a:xfrm>
            <a:off x="874678" y="1874007"/>
            <a:ext cx="942191" cy="978041"/>
            <a:chOff x="9214033" y="4152900"/>
            <a:chExt cx="3816167" cy="3832860"/>
          </a:xfrm>
        </p:grpSpPr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CC49D400-AD76-2877-F054-47736E5BD9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4200" y="4152900"/>
              <a:ext cx="2286000" cy="0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0E5156D7-0DFE-117D-30AF-7A5E815B52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52436" y="4152900"/>
              <a:ext cx="1391764" cy="1842602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8E334916-0CCA-0B5B-8BEB-ED44999545DB}"/>
                </a:ext>
              </a:extLst>
            </p:cNvPr>
            <p:cNvCxnSpPr/>
            <p:nvPr/>
          </p:nvCxnSpPr>
          <p:spPr>
            <a:xfrm flipH="1">
              <a:off x="9219086" y="5995502"/>
              <a:ext cx="133350" cy="913862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CDAC8C75-6170-496F-59DD-F43CC8466446}"/>
                </a:ext>
              </a:extLst>
            </p:cNvPr>
            <p:cNvCxnSpPr/>
            <p:nvPr/>
          </p:nvCxnSpPr>
          <p:spPr>
            <a:xfrm>
              <a:off x="9214033" y="6909364"/>
              <a:ext cx="368117" cy="1013052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E02CAB2A-02C4-89C4-D390-7CDDE6428C80}"/>
                </a:ext>
              </a:extLst>
            </p:cNvPr>
            <p:cNvCxnSpPr>
              <a:cxnSpLocks/>
            </p:cNvCxnSpPr>
            <p:nvPr/>
          </p:nvCxnSpPr>
          <p:spPr>
            <a:xfrm>
              <a:off x="9582150" y="7922416"/>
              <a:ext cx="3448050" cy="63344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33894570-76FF-58C9-5071-E3A10D9FFB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30200" y="4152900"/>
              <a:ext cx="0" cy="3832860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0C95E0E-4C9D-98DF-331D-739042CEB28B}"/>
              </a:ext>
            </a:extLst>
          </p:cNvPr>
          <p:cNvGrpSpPr/>
          <p:nvPr/>
        </p:nvGrpSpPr>
        <p:grpSpPr>
          <a:xfrm>
            <a:off x="954493" y="2866631"/>
            <a:ext cx="734642" cy="931129"/>
            <a:chOff x="14706600" y="8122358"/>
            <a:chExt cx="2975528" cy="4233240"/>
          </a:xfrm>
        </p:grpSpPr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09709BF6-9EA7-04E9-3E3F-1ADA142937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868525" y="8122358"/>
              <a:ext cx="2813603" cy="128728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C34B3398-CAD9-CA42-D74F-0419913A5C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06600" y="8122358"/>
              <a:ext cx="138090" cy="3065788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B6786326-6FAC-371E-3813-A29592C6B8B9}"/>
                </a:ext>
              </a:extLst>
            </p:cNvPr>
            <p:cNvCxnSpPr/>
            <p:nvPr/>
          </p:nvCxnSpPr>
          <p:spPr>
            <a:xfrm>
              <a:off x="14706600" y="11163175"/>
              <a:ext cx="1901945" cy="168349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4EF97F66-5FC2-984A-49D2-43AD3E477E65}"/>
                </a:ext>
              </a:extLst>
            </p:cNvPr>
            <p:cNvCxnSpPr>
              <a:cxnSpLocks/>
            </p:cNvCxnSpPr>
            <p:nvPr/>
          </p:nvCxnSpPr>
          <p:spPr>
            <a:xfrm>
              <a:off x="16608545" y="11331524"/>
              <a:ext cx="359305" cy="1024074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A806B348-E683-A2D7-01C0-49BA773432FE}"/>
                </a:ext>
              </a:extLst>
            </p:cNvPr>
            <p:cNvCxnSpPr/>
            <p:nvPr/>
          </p:nvCxnSpPr>
          <p:spPr>
            <a:xfrm flipV="1">
              <a:off x="16961175" y="12277725"/>
              <a:ext cx="720953" cy="77873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152048B5-34D4-6035-2C70-95FDC3BBEB8A}"/>
                </a:ext>
              </a:extLst>
            </p:cNvPr>
            <p:cNvCxnSpPr/>
            <p:nvPr/>
          </p:nvCxnSpPr>
          <p:spPr>
            <a:xfrm flipV="1">
              <a:off x="17682128" y="8251086"/>
              <a:ext cx="0" cy="4026639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图片 35">
            <a:extLst>
              <a:ext uri="{FF2B5EF4-FFF2-40B4-BE49-F238E27FC236}">
                <a16:creationId xmlns:a16="http://schemas.microsoft.com/office/drawing/2014/main" id="{B6F79605-5FBC-267E-9BDB-0A5CE699DF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710" y="2953394"/>
            <a:ext cx="170590" cy="172722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41F71287-E317-4B39-BA45-C54B1DCC680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560" y="3485045"/>
            <a:ext cx="163111" cy="165150"/>
          </a:xfrm>
          <a:prstGeom prst="rect">
            <a:avLst/>
          </a:prstGeom>
        </p:spPr>
      </p:pic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81F9061C-F605-7321-DE63-EBEB9443843D}"/>
              </a:ext>
            </a:extLst>
          </p:cNvPr>
          <p:cNvCxnSpPr>
            <a:cxnSpLocks/>
          </p:cNvCxnSpPr>
          <p:nvPr/>
        </p:nvCxnSpPr>
        <p:spPr>
          <a:xfrm flipH="1">
            <a:off x="1601177" y="2473012"/>
            <a:ext cx="812110" cy="269522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24F0FD5C-2F21-3799-B031-9D9B5F1928D7}"/>
              </a:ext>
            </a:extLst>
          </p:cNvPr>
          <p:cNvCxnSpPr>
            <a:cxnSpLocks/>
          </p:cNvCxnSpPr>
          <p:nvPr/>
        </p:nvCxnSpPr>
        <p:spPr>
          <a:xfrm flipH="1">
            <a:off x="1639429" y="2782262"/>
            <a:ext cx="773858" cy="701269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A116E325-BE9C-518A-F956-287A609A2C86}"/>
              </a:ext>
            </a:extLst>
          </p:cNvPr>
          <p:cNvCxnSpPr>
            <a:cxnSpLocks/>
          </p:cNvCxnSpPr>
          <p:nvPr/>
        </p:nvCxnSpPr>
        <p:spPr>
          <a:xfrm flipH="1" flipV="1">
            <a:off x="1146164" y="1974048"/>
            <a:ext cx="1226154" cy="1482236"/>
          </a:xfrm>
          <a:prstGeom prst="straightConnector1">
            <a:avLst/>
          </a:prstGeom>
          <a:ln w="19050">
            <a:solidFill>
              <a:srgbClr val="7030A0"/>
            </a:solidFill>
            <a:prstDash val="dash"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67D08D5F-2C9A-6100-9F1D-E9D6855812F1}"/>
                  </a:ext>
                </a:extLst>
              </p:cNvPr>
              <p:cNvSpPr txBox="1"/>
              <p:nvPr/>
            </p:nvSpPr>
            <p:spPr>
              <a:xfrm>
                <a:off x="2481692" y="2296052"/>
                <a:ext cx="24877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altLang="zh-CN" sz="1100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67D08D5F-2C9A-6100-9F1D-E9D685581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1692" y="2296052"/>
                <a:ext cx="248776" cy="338554"/>
              </a:xfrm>
              <a:prstGeom prst="rect">
                <a:avLst/>
              </a:prstGeom>
              <a:blipFill>
                <a:blip r:embed="rId6"/>
                <a:stretch>
                  <a:fillRect l="-21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C1E5DCDE-B571-FCEF-3243-157B673A4C20}"/>
                  </a:ext>
                </a:extLst>
              </p:cNvPr>
              <p:cNvSpPr txBox="1"/>
              <p:nvPr/>
            </p:nvSpPr>
            <p:spPr>
              <a:xfrm>
                <a:off x="2476053" y="2558369"/>
                <a:ext cx="24877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altLang="zh-CN" sz="1600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C1E5DCDE-B571-FCEF-3243-157B673A4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053" y="2558369"/>
                <a:ext cx="248776" cy="338554"/>
              </a:xfrm>
              <a:prstGeom prst="rect">
                <a:avLst/>
              </a:prstGeom>
              <a:blipFill>
                <a:blip r:embed="rId7"/>
                <a:stretch>
                  <a:fillRect l="-21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68615312-274C-3B5E-4E67-3F0949410835}"/>
                  </a:ext>
                </a:extLst>
              </p:cNvPr>
              <p:cNvSpPr txBox="1"/>
              <p:nvPr/>
            </p:nvSpPr>
            <p:spPr>
              <a:xfrm>
                <a:off x="2476053" y="3247170"/>
                <a:ext cx="24877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altLang="zh-CN" sz="16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68615312-274C-3B5E-4E67-3F0949410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053" y="3247170"/>
                <a:ext cx="248776" cy="338554"/>
              </a:xfrm>
              <a:prstGeom prst="rect">
                <a:avLst/>
              </a:prstGeom>
              <a:blipFill>
                <a:blip r:embed="rId8"/>
                <a:stretch>
                  <a:fillRect l="-21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D6D93B2F-6876-E60B-26BF-CC133326B0E0}"/>
              </a:ext>
            </a:extLst>
          </p:cNvPr>
          <p:cNvCxnSpPr>
            <a:cxnSpLocks/>
          </p:cNvCxnSpPr>
          <p:nvPr/>
        </p:nvCxnSpPr>
        <p:spPr>
          <a:xfrm>
            <a:off x="5069701" y="2468732"/>
            <a:ext cx="760209" cy="12044"/>
          </a:xfrm>
          <a:prstGeom prst="line">
            <a:avLst/>
          </a:prstGeom>
          <a:ln w="38100">
            <a:solidFill>
              <a:srgbClr val="FF0000"/>
            </a:solidFill>
            <a:prstDash val="dash"/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304B34AC-9548-F0AB-372F-A5781509B78F}"/>
              </a:ext>
            </a:extLst>
          </p:cNvPr>
          <p:cNvCxnSpPr>
            <a:cxnSpLocks/>
          </p:cNvCxnSpPr>
          <p:nvPr/>
        </p:nvCxnSpPr>
        <p:spPr>
          <a:xfrm flipH="1">
            <a:off x="5821963" y="2462382"/>
            <a:ext cx="7947" cy="129186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74135F4A-E199-35BC-614C-8518DA3032F4}"/>
              </a:ext>
            </a:extLst>
          </p:cNvPr>
          <p:cNvCxnSpPr>
            <a:cxnSpLocks/>
          </p:cNvCxnSpPr>
          <p:nvPr/>
        </p:nvCxnSpPr>
        <p:spPr>
          <a:xfrm flipH="1" flipV="1">
            <a:off x="5225925" y="3742388"/>
            <a:ext cx="588089" cy="2186"/>
          </a:xfrm>
          <a:prstGeom prst="line">
            <a:avLst/>
          </a:prstGeom>
          <a:ln w="38100"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图片 52">
            <a:extLst>
              <a:ext uri="{FF2B5EF4-FFF2-40B4-BE49-F238E27FC236}">
                <a16:creationId xmlns:a16="http://schemas.microsoft.com/office/drawing/2014/main" id="{6631CF78-8207-E065-0699-3FE36819B14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671586" y="2290834"/>
            <a:ext cx="124029" cy="12402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4" name="文本框 53">
            <a:extLst>
              <a:ext uri="{FF2B5EF4-FFF2-40B4-BE49-F238E27FC236}">
                <a16:creationId xmlns:a16="http://schemas.microsoft.com/office/drawing/2014/main" id="{D51DA450-AC21-3D8C-8252-6614F7E347A6}"/>
              </a:ext>
            </a:extLst>
          </p:cNvPr>
          <p:cNvSpPr txBox="1"/>
          <p:nvPr/>
        </p:nvSpPr>
        <p:spPr>
          <a:xfrm>
            <a:off x="2294647" y="1987107"/>
            <a:ext cx="1725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 1</a:t>
            </a:r>
            <a:endParaRPr lang="en-US" altLang="zh-CN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BB42B26-8EAE-8A4C-DF3F-DF2AA1DA83CA}"/>
              </a:ext>
            </a:extLst>
          </p:cNvPr>
          <p:cNvSpPr txBox="1"/>
          <p:nvPr/>
        </p:nvSpPr>
        <p:spPr>
          <a:xfrm>
            <a:off x="2294647" y="2966871"/>
            <a:ext cx="1725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 2</a:t>
            </a:r>
            <a:endParaRPr lang="en-US" altLang="zh-CN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6E6024A-1AB0-9E2D-4803-7A2D2CDDD3FC}"/>
              </a:ext>
            </a:extLst>
          </p:cNvPr>
          <p:cNvSpPr txBox="1"/>
          <p:nvPr/>
        </p:nvSpPr>
        <p:spPr>
          <a:xfrm>
            <a:off x="2716911" y="2559119"/>
            <a:ext cx="2911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0" i="0" dirty="0" err="1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Sbux</a:t>
            </a:r>
            <a:r>
              <a:rPr lang="en-US" altLang="zh-CN" sz="1800" b="0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Coffee, 101 Main St</a:t>
            </a:r>
            <a:r>
              <a:rPr lang="en-US" altLang="zh-CN" sz="1600" dirty="0">
                <a:solidFill>
                  <a:schemeClr val="accent2"/>
                </a:solidFill>
              </a:rPr>
              <a:t> </a:t>
            </a:r>
            <a:endParaRPr lang="en-US" altLang="zh-CN" sz="1600" b="1" dirty="0">
              <a:solidFill>
                <a:schemeClr val="accent2"/>
              </a:solidFill>
              <a:sym typeface="+mn-ea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817071E-2DEF-93E8-2A93-7FA5E22AAA6F}"/>
              </a:ext>
            </a:extLst>
          </p:cNvPr>
          <p:cNvSpPr txBox="1"/>
          <p:nvPr/>
        </p:nvSpPr>
        <p:spPr>
          <a:xfrm>
            <a:off x="2710388" y="3243903"/>
            <a:ext cx="2821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0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Burger King, 37-A Main St</a:t>
            </a:r>
            <a:endParaRPr lang="en-US" altLang="zh-CN" sz="1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9170F38E-B836-8A8B-371B-C31B49E24EF0}"/>
              </a:ext>
            </a:extLst>
          </p:cNvPr>
          <p:cNvSpPr txBox="1"/>
          <p:nvPr/>
        </p:nvSpPr>
        <p:spPr>
          <a:xfrm>
            <a:off x="2710388" y="2287123"/>
            <a:ext cx="23750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Starbucks, 327 Main St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962" name="直接箭头连接符 39961">
            <a:extLst>
              <a:ext uri="{FF2B5EF4-FFF2-40B4-BE49-F238E27FC236}">
                <a16:creationId xmlns:a16="http://schemas.microsoft.com/office/drawing/2014/main" id="{636C9BF3-B183-4A29-88F0-1121714E4008}"/>
              </a:ext>
            </a:extLst>
          </p:cNvPr>
          <p:cNvCxnSpPr>
            <a:cxnSpLocks/>
          </p:cNvCxnSpPr>
          <p:nvPr/>
        </p:nvCxnSpPr>
        <p:spPr>
          <a:xfrm flipH="1" flipV="1">
            <a:off x="1327650" y="3104087"/>
            <a:ext cx="1056823" cy="552908"/>
          </a:xfrm>
          <a:prstGeom prst="straightConnector1">
            <a:avLst/>
          </a:prstGeom>
          <a:ln w="19050">
            <a:solidFill>
              <a:srgbClr val="7030A0"/>
            </a:solidFill>
            <a:prstDash val="dash"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963" name="文本框 39962">
                <a:extLst>
                  <a:ext uri="{FF2B5EF4-FFF2-40B4-BE49-F238E27FC236}">
                    <a16:creationId xmlns:a16="http://schemas.microsoft.com/office/drawing/2014/main" id="{E4D3558B-92F3-9706-8F5A-832F61E735D0}"/>
                  </a:ext>
                </a:extLst>
              </p:cNvPr>
              <p:cNvSpPr txBox="1"/>
              <p:nvPr/>
            </p:nvSpPr>
            <p:spPr>
              <a:xfrm>
                <a:off x="2476053" y="3477934"/>
                <a:ext cx="24877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altLang="zh-CN" sz="16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9963" name="文本框 39962">
                <a:extLst>
                  <a:ext uri="{FF2B5EF4-FFF2-40B4-BE49-F238E27FC236}">
                    <a16:creationId xmlns:a16="http://schemas.microsoft.com/office/drawing/2014/main" id="{E4D3558B-92F3-9706-8F5A-832F61E73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053" y="3477934"/>
                <a:ext cx="248776" cy="338554"/>
              </a:xfrm>
              <a:prstGeom prst="rect">
                <a:avLst/>
              </a:prstGeom>
              <a:blipFill>
                <a:blip r:embed="rId10"/>
                <a:stretch>
                  <a:fillRect l="-21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964" name="文本框 39963">
            <a:extLst>
              <a:ext uri="{FF2B5EF4-FFF2-40B4-BE49-F238E27FC236}">
                <a16:creationId xmlns:a16="http://schemas.microsoft.com/office/drawing/2014/main" id="{991A0824-4BD5-C422-E113-8E8419B9A726}"/>
              </a:ext>
            </a:extLst>
          </p:cNvPr>
          <p:cNvSpPr txBox="1"/>
          <p:nvPr/>
        </p:nvSpPr>
        <p:spPr>
          <a:xfrm>
            <a:off x="2710388" y="3485811"/>
            <a:ext cx="2821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0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Starbucks, 101-A Main St</a:t>
            </a:r>
            <a:endParaRPr lang="en-US" altLang="zh-CN" sz="1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9999" name="图片 39998">
            <a:extLst>
              <a:ext uri="{FF2B5EF4-FFF2-40B4-BE49-F238E27FC236}">
                <a16:creationId xmlns:a16="http://schemas.microsoft.com/office/drawing/2014/main" id="{B489FC98-27ED-D700-DDFE-85449134DE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800" y="2663161"/>
            <a:ext cx="170590" cy="172722"/>
          </a:xfrm>
          <a:prstGeom prst="rect">
            <a:avLst/>
          </a:prstGeom>
        </p:spPr>
      </p:pic>
      <p:pic>
        <p:nvPicPr>
          <p:cNvPr id="1024" name="图片 1023">
            <a:extLst>
              <a:ext uri="{FF2B5EF4-FFF2-40B4-BE49-F238E27FC236}">
                <a16:creationId xmlns:a16="http://schemas.microsoft.com/office/drawing/2014/main" id="{992D2FF6-218A-36F2-36CC-EF06613BE889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6997" t="25879" r="36855" b="24470"/>
          <a:stretch/>
        </p:blipFill>
        <p:spPr>
          <a:xfrm>
            <a:off x="993530" y="1815371"/>
            <a:ext cx="158210" cy="168980"/>
          </a:xfrm>
          <a:prstGeom prst="rect">
            <a:avLst/>
          </a:prstGeom>
        </p:spPr>
      </p:pic>
      <p:sp>
        <p:nvSpPr>
          <p:cNvPr id="1025" name="矩形 1024">
            <a:extLst>
              <a:ext uri="{FF2B5EF4-FFF2-40B4-BE49-F238E27FC236}">
                <a16:creationId xmlns:a16="http://schemas.microsoft.com/office/drawing/2014/main" id="{E2D46382-3067-4364-E42A-1394F32141D0}"/>
              </a:ext>
            </a:extLst>
          </p:cNvPr>
          <p:cNvSpPr/>
          <p:nvPr/>
        </p:nvSpPr>
        <p:spPr>
          <a:xfrm>
            <a:off x="475004" y="1992309"/>
            <a:ext cx="627104" cy="70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7" name="文本框 1026">
            <a:extLst>
              <a:ext uri="{FF2B5EF4-FFF2-40B4-BE49-F238E27FC236}">
                <a16:creationId xmlns:a16="http://schemas.microsoft.com/office/drawing/2014/main" id="{2E4DF649-5E02-244E-03C7-3D0C53F5B0E4}"/>
              </a:ext>
            </a:extLst>
          </p:cNvPr>
          <p:cNvSpPr txBox="1"/>
          <p:nvPr/>
        </p:nvSpPr>
        <p:spPr>
          <a:xfrm>
            <a:off x="379783" y="1934262"/>
            <a:ext cx="82081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 dirty="0"/>
              <a:t>(118.8259, 31.9391)</a:t>
            </a:r>
            <a:endParaRPr lang="en-US" altLang="zh-CN" sz="600" dirty="0">
              <a:sym typeface="+mn-ea"/>
            </a:endParaRPr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F39BACB2-ABD2-988F-C6F9-6C5B2D8E4813}"/>
              </a:ext>
            </a:extLst>
          </p:cNvPr>
          <p:cNvSpPr/>
          <p:nvPr/>
        </p:nvSpPr>
        <p:spPr>
          <a:xfrm>
            <a:off x="743168" y="2740089"/>
            <a:ext cx="623290" cy="70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2" name="文本框 1031">
            <a:extLst>
              <a:ext uri="{FF2B5EF4-FFF2-40B4-BE49-F238E27FC236}">
                <a16:creationId xmlns:a16="http://schemas.microsoft.com/office/drawing/2014/main" id="{AE50B2A6-3ED4-3463-28E8-4E14A4284ACA}"/>
              </a:ext>
            </a:extLst>
          </p:cNvPr>
          <p:cNvSpPr txBox="1"/>
          <p:nvPr/>
        </p:nvSpPr>
        <p:spPr>
          <a:xfrm>
            <a:off x="554135" y="2681422"/>
            <a:ext cx="99718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 dirty="0"/>
              <a:t>(118.8263, 31.9373)</a:t>
            </a:r>
            <a:endParaRPr lang="en-US" altLang="zh-CN" sz="600" dirty="0">
              <a:sym typeface="+mn-ea"/>
            </a:endParaRPr>
          </a:p>
        </p:txBody>
      </p:sp>
      <p:sp>
        <p:nvSpPr>
          <p:cNvPr id="1033" name="矩形 1032">
            <a:extLst>
              <a:ext uri="{FF2B5EF4-FFF2-40B4-BE49-F238E27FC236}">
                <a16:creationId xmlns:a16="http://schemas.microsoft.com/office/drawing/2014/main" id="{E6AA1452-FA52-3BA5-A7AB-B5AA7BB5C2E7}"/>
              </a:ext>
            </a:extLst>
          </p:cNvPr>
          <p:cNvSpPr/>
          <p:nvPr/>
        </p:nvSpPr>
        <p:spPr>
          <a:xfrm>
            <a:off x="542529" y="3101808"/>
            <a:ext cx="613031" cy="70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4" name="文本框 1033">
            <a:extLst>
              <a:ext uri="{FF2B5EF4-FFF2-40B4-BE49-F238E27FC236}">
                <a16:creationId xmlns:a16="http://schemas.microsoft.com/office/drawing/2014/main" id="{35EE312E-94BD-5BAA-9E78-DECEB765BE71}"/>
              </a:ext>
            </a:extLst>
          </p:cNvPr>
          <p:cNvSpPr txBox="1"/>
          <p:nvPr/>
        </p:nvSpPr>
        <p:spPr>
          <a:xfrm>
            <a:off x="433672" y="3041705"/>
            <a:ext cx="82454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 dirty="0"/>
              <a:t>(118.8261, 31.9365)</a:t>
            </a:r>
            <a:endParaRPr lang="en-US" altLang="zh-CN" sz="600" dirty="0">
              <a:sym typeface="+mn-ea"/>
            </a:endParaRPr>
          </a:p>
        </p:txBody>
      </p:sp>
      <p:sp>
        <p:nvSpPr>
          <p:cNvPr id="1047" name="矩形 1046">
            <a:extLst>
              <a:ext uri="{FF2B5EF4-FFF2-40B4-BE49-F238E27FC236}">
                <a16:creationId xmlns:a16="http://schemas.microsoft.com/office/drawing/2014/main" id="{68369BCE-4E89-8303-77E3-8AF5CED7E233}"/>
              </a:ext>
            </a:extLst>
          </p:cNvPr>
          <p:cNvSpPr/>
          <p:nvPr/>
        </p:nvSpPr>
        <p:spPr>
          <a:xfrm>
            <a:off x="881600" y="3595986"/>
            <a:ext cx="613031" cy="70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5" name="文本框 1034">
            <a:extLst>
              <a:ext uri="{FF2B5EF4-FFF2-40B4-BE49-F238E27FC236}">
                <a16:creationId xmlns:a16="http://schemas.microsoft.com/office/drawing/2014/main" id="{455695F3-DD0D-7A9C-A036-D9EA6A014ACA}"/>
              </a:ext>
            </a:extLst>
          </p:cNvPr>
          <p:cNvSpPr txBox="1"/>
          <p:nvPr/>
        </p:nvSpPr>
        <p:spPr>
          <a:xfrm>
            <a:off x="776098" y="3535878"/>
            <a:ext cx="82403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 dirty="0"/>
              <a:t>(118.8271, 31.9353)</a:t>
            </a:r>
            <a:endParaRPr lang="en-US" altLang="zh-CN" sz="600" dirty="0">
              <a:sym typeface="+mn-ea"/>
            </a:endParaRPr>
          </a:p>
        </p:txBody>
      </p:sp>
      <p:grpSp>
        <p:nvGrpSpPr>
          <p:cNvPr id="1046" name="组合 1045">
            <a:extLst>
              <a:ext uri="{FF2B5EF4-FFF2-40B4-BE49-F238E27FC236}">
                <a16:creationId xmlns:a16="http://schemas.microsoft.com/office/drawing/2014/main" id="{5AC31087-243D-3655-292C-48B71A48180F}"/>
              </a:ext>
            </a:extLst>
          </p:cNvPr>
          <p:cNvGrpSpPr/>
          <p:nvPr/>
        </p:nvGrpSpPr>
        <p:grpSpPr>
          <a:xfrm>
            <a:off x="5200982" y="2581693"/>
            <a:ext cx="531466" cy="1062164"/>
            <a:chOff x="9281071" y="4040061"/>
            <a:chExt cx="531466" cy="1062164"/>
          </a:xfrm>
        </p:grpSpPr>
        <p:cxnSp>
          <p:nvCxnSpPr>
            <p:cNvPr id="1038" name="直接连接符 1037">
              <a:extLst>
                <a:ext uri="{FF2B5EF4-FFF2-40B4-BE49-F238E27FC236}">
                  <a16:creationId xmlns:a16="http://schemas.microsoft.com/office/drawing/2014/main" id="{326EFE9E-CE2A-7E18-2017-1E4C3360DE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81071" y="4217631"/>
              <a:ext cx="531466" cy="4598"/>
            </a:xfrm>
            <a:prstGeom prst="line">
              <a:avLst/>
            </a:prstGeom>
            <a:ln w="38100">
              <a:solidFill>
                <a:srgbClr val="36AB60"/>
              </a:solidFill>
              <a:head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9" name="直接连接符 1038">
              <a:extLst>
                <a:ext uri="{FF2B5EF4-FFF2-40B4-BE49-F238E27FC236}">
                  <a16:creationId xmlns:a16="http://schemas.microsoft.com/office/drawing/2014/main" id="{6A16AFC4-E09B-BEA8-D73E-7AF8EFAD99BA}"/>
                </a:ext>
              </a:extLst>
            </p:cNvPr>
            <p:cNvCxnSpPr>
              <a:cxnSpLocks/>
            </p:cNvCxnSpPr>
            <p:nvPr/>
          </p:nvCxnSpPr>
          <p:spPr>
            <a:xfrm>
              <a:off x="9793877" y="4228690"/>
              <a:ext cx="0" cy="873535"/>
            </a:xfrm>
            <a:prstGeom prst="line">
              <a:avLst/>
            </a:prstGeom>
            <a:ln w="38100">
              <a:solidFill>
                <a:srgbClr val="36AB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直接连接符 1039">
              <a:extLst>
                <a:ext uri="{FF2B5EF4-FFF2-40B4-BE49-F238E27FC236}">
                  <a16:creationId xmlns:a16="http://schemas.microsoft.com/office/drawing/2014/main" id="{E252E022-AB48-0552-45C2-6A372D0683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16240" y="5081790"/>
              <a:ext cx="477637" cy="0"/>
            </a:xfrm>
            <a:prstGeom prst="line">
              <a:avLst/>
            </a:prstGeom>
            <a:ln w="38100">
              <a:solidFill>
                <a:srgbClr val="36AB6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44" name="图片 1043">
              <a:extLst>
                <a:ext uri="{FF2B5EF4-FFF2-40B4-BE49-F238E27FC236}">
                  <a16:creationId xmlns:a16="http://schemas.microsoft.com/office/drawing/2014/main" id="{B825C7B8-9EA8-3FDA-8B89-44B7DE6ED2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57581" y="4040061"/>
              <a:ext cx="126891" cy="126891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</p:grp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B5B6E92B-57E9-7712-4BF4-229A31BAFDC8}"/>
              </a:ext>
            </a:extLst>
          </p:cNvPr>
          <p:cNvSpPr txBox="1"/>
          <p:nvPr/>
        </p:nvSpPr>
        <p:spPr>
          <a:xfrm>
            <a:off x="379783" y="982963"/>
            <a:ext cx="83844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Geospatial Entity Resolution (GER):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to identify which spatial entities refer to the same physical entity.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76" name="组合 1075">
            <a:extLst>
              <a:ext uri="{FF2B5EF4-FFF2-40B4-BE49-F238E27FC236}">
                <a16:creationId xmlns:a16="http://schemas.microsoft.com/office/drawing/2014/main" id="{FD0029AA-0956-136E-54BB-3582B294F777}"/>
              </a:ext>
            </a:extLst>
          </p:cNvPr>
          <p:cNvGrpSpPr/>
          <p:nvPr/>
        </p:nvGrpSpPr>
        <p:grpSpPr>
          <a:xfrm>
            <a:off x="322346" y="4047938"/>
            <a:ext cx="5821263" cy="1496780"/>
            <a:chOff x="78250" y="4281237"/>
            <a:chExt cx="5821263" cy="1496780"/>
          </a:xfrm>
        </p:grpSpPr>
        <p:sp>
          <p:nvSpPr>
            <p:cNvPr id="1051" name="文本框 1050">
              <a:extLst>
                <a:ext uri="{FF2B5EF4-FFF2-40B4-BE49-F238E27FC236}">
                  <a16:creationId xmlns:a16="http://schemas.microsoft.com/office/drawing/2014/main" id="{2039F9C6-83F1-2745-83FE-73CC521D1C77}"/>
                </a:ext>
              </a:extLst>
            </p:cNvPr>
            <p:cNvSpPr txBox="1"/>
            <p:nvPr/>
          </p:nvSpPr>
          <p:spPr>
            <a:xfrm>
              <a:off x="248283" y="4281237"/>
              <a:ext cx="27443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Rule-based methods</a:t>
              </a:r>
              <a:endPara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052" name="文本框 1051">
              <a:extLst>
                <a:ext uri="{FF2B5EF4-FFF2-40B4-BE49-F238E27FC236}">
                  <a16:creationId xmlns:a16="http://schemas.microsoft.com/office/drawing/2014/main" id="{586739B1-8B09-7959-43E7-4CAF34AA6892}"/>
                </a:ext>
              </a:extLst>
            </p:cNvPr>
            <p:cNvSpPr txBox="1"/>
            <p:nvPr/>
          </p:nvSpPr>
          <p:spPr>
            <a:xfrm>
              <a:off x="3155114" y="4287640"/>
              <a:ext cx="27443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PLM-based methods</a:t>
              </a:r>
              <a:endPara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1053" name="直接连接符 1052">
              <a:extLst>
                <a:ext uri="{FF2B5EF4-FFF2-40B4-BE49-F238E27FC236}">
                  <a16:creationId xmlns:a16="http://schemas.microsoft.com/office/drawing/2014/main" id="{C4F73009-1267-94E5-DBB7-BE83D4627AD6}"/>
                </a:ext>
              </a:extLst>
            </p:cNvPr>
            <p:cNvCxnSpPr>
              <a:cxnSpLocks/>
            </p:cNvCxnSpPr>
            <p:nvPr/>
          </p:nvCxnSpPr>
          <p:spPr>
            <a:xfrm>
              <a:off x="199838" y="4322821"/>
              <a:ext cx="5453197" cy="0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4" name="文本框 1053">
                  <a:extLst>
                    <a:ext uri="{FF2B5EF4-FFF2-40B4-BE49-F238E27FC236}">
                      <a16:creationId xmlns:a16="http://schemas.microsoft.com/office/drawing/2014/main" id="{2F609216-5D6A-652B-A2C3-BF846B042E87}"/>
                    </a:ext>
                  </a:extLst>
                </p:cNvPr>
                <p:cNvSpPr txBox="1"/>
                <p:nvPr/>
              </p:nvSpPr>
              <p:spPr>
                <a:xfrm>
                  <a:off x="160573" y="4615317"/>
                  <a:ext cx="197267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800" b="0" i="0" dirty="0">
                      <a:solidFill>
                        <a:srgbClr val="000000"/>
                      </a:solidFill>
                      <a:effectLst/>
                      <a:latin typeface="NimbusRomNo9L-Regu"/>
                    </a:rPr>
                    <a:t>EditDist(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en-US" altLang="zh-CN" sz="1800" b="0" i="0" dirty="0">
                      <a:solidFill>
                        <a:srgbClr val="000000"/>
                      </a:solidFill>
                      <a:effectLst/>
                      <a:latin typeface="NimbusRomNo9L-Regu"/>
                    </a:rPr>
                    <a:t>,</a:t>
                  </a:r>
                  <a:r>
                    <a:rPr lang="en-US" altLang="zh-CN" b="1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a14:m>
                  <a:r>
                    <a:rPr lang="en-US" altLang="zh-CN" sz="1800" b="0" i="0" dirty="0">
                      <a:solidFill>
                        <a:srgbClr val="000000"/>
                      </a:solidFill>
                      <a:effectLst/>
                      <a:latin typeface="NimbusRomNo9L-Regu"/>
                    </a:rPr>
                    <a:t>) &lt; </a:t>
                  </a:r>
                  <a14:m>
                    <m:oMath xmlns:m="http://schemas.openxmlformats.org/officeDocument/2006/math">
                      <m:r>
                        <a:rPr lang="zh-CN" altLang="en-US" sz="1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endParaRPr lang="en-US" altLang="zh-CN" sz="1600" b="1" dirty="0"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054" name="文本框 1053">
                  <a:extLst>
                    <a:ext uri="{FF2B5EF4-FFF2-40B4-BE49-F238E27FC236}">
                      <a16:creationId xmlns:a16="http://schemas.microsoft.com/office/drawing/2014/main" id="{2F609216-5D6A-652B-A2C3-BF846B042E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573" y="4615317"/>
                  <a:ext cx="1972673" cy="369332"/>
                </a:xfrm>
                <a:prstGeom prst="rect">
                  <a:avLst/>
                </a:prstGeom>
                <a:blipFill>
                  <a:blip r:embed="rId14"/>
                  <a:stretch>
                    <a:fillRect l="-2469" t="-10000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5" name="文本框 1054">
                  <a:extLst>
                    <a:ext uri="{FF2B5EF4-FFF2-40B4-BE49-F238E27FC236}">
                      <a16:creationId xmlns:a16="http://schemas.microsoft.com/office/drawing/2014/main" id="{016A5C31-07F2-F579-729D-B73079E09996}"/>
                    </a:ext>
                  </a:extLst>
                </p:cNvPr>
                <p:cNvSpPr txBox="1"/>
                <p:nvPr/>
              </p:nvSpPr>
              <p:spPr>
                <a:xfrm>
                  <a:off x="160573" y="4935779"/>
                  <a:ext cx="204572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800" b="0" i="0" dirty="0">
                      <a:solidFill>
                        <a:srgbClr val="000000"/>
                      </a:solidFill>
                      <a:effectLst/>
                      <a:latin typeface="NimbusRomNo9L-Regu"/>
                    </a:rPr>
                    <a:t>EditDist(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en-US" altLang="zh-CN" sz="1800" b="0" i="0" dirty="0">
                      <a:solidFill>
                        <a:srgbClr val="000000"/>
                      </a:solidFill>
                      <a:effectLst/>
                      <a:latin typeface="NimbusRomNo9L-Regu"/>
                    </a:rPr>
                    <a:t>,</a:t>
                  </a:r>
                  <a:r>
                    <a:rPr lang="en-US" altLang="zh-CN" b="1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a14:m>
                  <a:r>
                    <a:rPr lang="en-US" altLang="zh-CN" sz="1800" b="0" i="0" dirty="0">
                      <a:solidFill>
                        <a:srgbClr val="000000"/>
                      </a:solidFill>
                      <a:effectLst/>
                      <a:latin typeface="NimbusRomNo9L-Regu"/>
                    </a:rPr>
                    <a:t>) &gt;</a:t>
                  </a:r>
                  <a14:m>
                    <m:oMath xmlns:m="http://schemas.openxmlformats.org/officeDocument/2006/math">
                      <m:r>
                        <a:rPr lang="en-US" altLang="zh-CN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endParaRPr lang="en-US" altLang="zh-CN" sz="1600" b="1" dirty="0"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055" name="文本框 1054">
                  <a:extLst>
                    <a:ext uri="{FF2B5EF4-FFF2-40B4-BE49-F238E27FC236}">
                      <a16:creationId xmlns:a16="http://schemas.microsoft.com/office/drawing/2014/main" id="{016A5C31-07F2-F579-729D-B73079E099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573" y="4935779"/>
                  <a:ext cx="2045726" cy="369332"/>
                </a:xfrm>
                <a:prstGeom prst="rect">
                  <a:avLst/>
                </a:prstGeom>
                <a:blipFill>
                  <a:blip r:embed="rId15"/>
                  <a:stretch>
                    <a:fillRect l="-2381" t="-8197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6" name="右大括号 1055">
              <a:extLst>
                <a:ext uri="{FF2B5EF4-FFF2-40B4-BE49-F238E27FC236}">
                  <a16:creationId xmlns:a16="http://schemas.microsoft.com/office/drawing/2014/main" id="{793C2D81-ED25-2FC1-6535-419ED8305414}"/>
                </a:ext>
              </a:extLst>
            </p:cNvPr>
            <p:cNvSpPr/>
            <p:nvPr/>
          </p:nvSpPr>
          <p:spPr>
            <a:xfrm>
              <a:off x="2058528" y="4781935"/>
              <a:ext cx="140630" cy="369332"/>
            </a:xfrm>
            <a:prstGeom prst="rightBrac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7" name="文本框 1056">
                  <a:extLst>
                    <a:ext uri="{FF2B5EF4-FFF2-40B4-BE49-F238E27FC236}">
                      <a16:creationId xmlns:a16="http://schemas.microsoft.com/office/drawing/2014/main" id="{BB029A2C-1D07-298A-3720-5624B8E547FD}"/>
                    </a:ext>
                  </a:extLst>
                </p:cNvPr>
                <p:cNvSpPr txBox="1"/>
                <p:nvPr/>
              </p:nvSpPr>
              <p:spPr>
                <a:xfrm>
                  <a:off x="2130689" y="4809481"/>
                  <a:ext cx="959373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altLang="zh-CN" sz="1600" b="1" dirty="0"/>
                </a:p>
              </p:txBody>
            </p:sp>
          </mc:Choice>
          <mc:Fallback xmlns="">
            <p:sp>
              <p:nvSpPr>
                <p:cNvPr id="1057" name="文本框 1056">
                  <a:extLst>
                    <a:ext uri="{FF2B5EF4-FFF2-40B4-BE49-F238E27FC236}">
                      <a16:creationId xmlns:a16="http://schemas.microsoft.com/office/drawing/2014/main" id="{BB029A2C-1D07-298A-3720-5624B8E547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0689" y="4809481"/>
                  <a:ext cx="959373" cy="33855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058" name="图片 1057">
              <a:extLst>
                <a:ext uri="{FF2B5EF4-FFF2-40B4-BE49-F238E27FC236}">
                  <a16:creationId xmlns:a16="http://schemas.microsoft.com/office/drawing/2014/main" id="{7D9B971A-B6D8-48C2-882C-F170310BA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715938" y="4734316"/>
              <a:ext cx="124029" cy="124029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sp>
          <p:nvSpPr>
            <p:cNvPr id="1059" name="文本框 1058">
              <a:extLst>
                <a:ext uri="{FF2B5EF4-FFF2-40B4-BE49-F238E27FC236}">
                  <a16:creationId xmlns:a16="http://schemas.microsoft.com/office/drawing/2014/main" id="{116D9011-AEA6-39DB-A54A-3BB113004449}"/>
                </a:ext>
              </a:extLst>
            </p:cNvPr>
            <p:cNvSpPr txBox="1"/>
            <p:nvPr/>
          </p:nvSpPr>
          <p:spPr>
            <a:xfrm>
              <a:off x="78250" y="5193242"/>
              <a:ext cx="299054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require handcrafted </a:t>
              </a:r>
            </a:p>
            <a:p>
              <a:pPr algn="ctr"/>
              <a:r>
                <a:rPr lang="en-US" altLang="zh-CN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rules and thresholds</a:t>
              </a:r>
            </a:p>
          </p:txBody>
        </p:sp>
        <p:sp>
          <p:nvSpPr>
            <p:cNvPr id="1060" name="圆角矩形 263">
              <a:extLst>
                <a:ext uri="{FF2B5EF4-FFF2-40B4-BE49-F238E27FC236}">
                  <a16:creationId xmlns:a16="http://schemas.microsoft.com/office/drawing/2014/main" id="{6DDF50CB-5F9B-7292-FB42-CA8F5C5C38FC}"/>
                </a:ext>
              </a:extLst>
            </p:cNvPr>
            <p:cNvSpPr/>
            <p:nvPr/>
          </p:nvSpPr>
          <p:spPr>
            <a:xfrm>
              <a:off x="3993478" y="4834075"/>
              <a:ext cx="699772" cy="538401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PLM</a:t>
              </a:r>
            </a:p>
          </p:txBody>
        </p:sp>
        <p:sp>
          <p:nvSpPr>
            <p:cNvPr id="1061" name="文本框 1060">
              <a:extLst>
                <a:ext uri="{FF2B5EF4-FFF2-40B4-BE49-F238E27FC236}">
                  <a16:creationId xmlns:a16="http://schemas.microsoft.com/office/drawing/2014/main" id="{81703D15-450F-050B-55CD-02505D27C3CF}"/>
                </a:ext>
              </a:extLst>
            </p:cNvPr>
            <p:cNvSpPr txBox="1"/>
            <p:nvPr/>
          </p:nvSpPr>
          <p:spPr>
            <a:xfrm>
              <a:off x="3546042" y="5375812"/>
              <a:ext cx="193040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require </a:t>
              </a:r>
              <a:r>
                <a:rPr lang="en-US" altLang="zh-CN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labeled data</a:t>
              </a:r>
              <a:endPara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62" name="直接箭头连接符 1061">
              <a:extLst>
                <a:ext uri="{FF2B5EF4-FFF2-40B4-BE49-F238E27FC236}">
                  <a16:creationId xmlns:a16="http://schemas.microsoft.com/office/drawing/2014/main" id="{F0732338-B3A1-EEC5-00FE-E4F9733D19C6}"/>
                </a:ext>
              </a:extLst>
            </p:cNvPr>
            <p:cNvCxnSpPr>
              <a:cxnSpLocks/>
            </p:cNvCxnSpPr>
            <p:nvPr/>
          </p:nvCxnSpPr>
          <p:spPr>
            <a:xfrm>
              <a:off x="3795946" y="5103275"/>
              <a:ext cx="1975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3" name="文本框 1062">
                  <a:extLst>
                    <a:ext uri="{FF2B5EF4-FFF2-40B4-BE49-F238E27FC236}">
                      <a16:creationId xmlns:a16="http://schemas.microsoft.com/office/drawing/2014/main" id="{81C2949F-CABD-C5F9-8D99-0ECD587BCD9B}"/>
                    </a:ext>
                  </a:extLst>
                </p:cNvPr>
                <p:cNvSpPr txBox="1"/>
                <p:nvPr/>
              </p:nvSpPr>
              <p:spPr>
                <a:xfrm>
                  <a:off x="3190754" y="4789916"/>
                  <a:ext cx="68515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600" b="1" i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6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1063" name="文本框 1062">
                  <a:extLst>
                    <a:ext uri="{FF2B5EF4-FFF2-40B4-BE49-F238E27FC236}">
                      <a16:creationId xmlns:a16="http://schemas.microsoft.com/office/drawing/2014/main" id="{81C2949F-CABD-C5F9-8D99-0ECD587BCD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0754" y="4789916"/>
                  <a:ext cx="685157" cy="33855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4" name="文本框 1063">
                  <a:extLst>
                    <a:ext uri="{FF2B5EF4-FFF2-40B4-BE49-F238E27FC236}">
                      <a16:creationId xmlns:a16="http://schemas.microsoft.com/office/drawing/2014/main" id="{1592BB43-42FB-74EF-85D8-4F8784EF7DBB}"/>
                    </a:ext>
                  </a:extLst>
                </p:cNvPr>
                <p:cNvSpPr txBox="1"/>
                <p:nvPr/>
              </p:nvSpPr>
              <p:spPr>
                <a:xfrm>
                  <a:off x="3104981" y="5011935"/>
                  <a:ext cx="79925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600" b="1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r>
                    <a:rPr lang="en-US" altLang="zh-CN" sz="1600" b="1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a14:m>
                  <a:endParaRPr lang="en-US" altLang="zh-CN" sz="1600" b="1" dirty="0"/>
                </a:p>
              </p:txBody>
            </p:sp>
          </mc:Choice>
          <mc:Fallback xmlns="">
            <p:sp>
              <p:nvSpPr>
                <p:cNvPr id="1064" name="文本框 1063">
                  <a:extLst>
                    <a:ext uri="{FF2B5EF4-FFF2-40B4-BE49-F238E27FC236}">
                      <a16:creationId xmlns:a16="http://schemas.microsoft.com/office/drawing/2014/main" id="{1592BB43-42FB-74EF-85D8-4F8784EF7D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4981" y="5011935"/>
                  <a:ext cx="799257" cy="33855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65" name="直接箭头连接符 1064">
              <a:extLst>
                <a:ext uri="{FF2B5EF4-FFF2-40B4-BE49-F238E27FC236}">
                  <a16:creationId xmlns:a16="http://schemas.microsoft.com/office/drawing/2014/main" id="{73B469F3-62D8-100E-072E-38E24DF020B4}"/>
                </a:ext>
              </a:extLst>
            </p:cNvPr>
            <p:cNvCxnSpPr>
              <a:cxnSpLocks/>
            </p:cNvCxnSpPr>
            <p:nvPr/>
          </p:nvCxnSpPr>
          <p:spPr>
            <a:xfrm>
              <a:off x="4710001" y="5096880"/>
              <a:ext cx="1689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66" name="组合 1065">
              <a:extLst>
                <a:ext uri="{FF2B5EF4-FFF2-40B4-BE49-F238E27FC236}">
                  <a16:creationId xmlns:a16="http://schemas.microsoft.com/office/drawing/2014/main" id="{1FB38D07-6B3B-D8DF-A52F-BDA0B0BB2838}"/>
                </a:ext>
              </a:extLst>
            </p:cNvPr>
            <p:cNvGrpSpPr/>
            <p:nvPr/>
          </p:nvGrpSpPr>
          <p:grpSpPr>
            <a:xfrm>
              <a:off x="4832536" y="4860755"/>
              <a:ext cx="525527" cy="509468"/>
              <a:chOff x="12729809" y="3522301"/>
              <a:chExt cx="525527" cy="509468"/>
            </a:xfrm>
          </p:grpSpPr>
          <p:sp>
            <p:nvSpPr>
              <p:cNvPr id="1067" name="流程图: 手动操作 1066">
                <a:extLst>
                  <a:ext uri="{FF2B5EF4-FFF2-40B4-BE49-F238E27FC236}">
                    <a16:creationId xmlns:a16="http://schemas.microsoft.com/office/drawing/2014/main" id="{C3504953-293D-BFFE-FAED-194A74581D5B}"/>
                  </a:ext>
                </a:extLst>
              </p:cNvPr>
              <p:cNvSpPr/>
              <p:nvPr/>
            </p:nvSpPr>
            <p:spPr>
              <a:xfrm rot="16200000">
                <a:off x="12737575" y="3586906"/>
                <a:ext cx="509468" cy="380258"/>
              </a:xfrm>
              <a:prstGeom prst="flowChartManualOperation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8" name="文本框 1067">
                <a:extLst>
                  <a:ext uri="{FF2B5EF4-FFF2-40B4-BE49-F238E27FC236}">
                    <a16:creationId xmlns:a16="http://schemas.microsoft.com/office/drawing/2014/main" id="{2D7178C9-3E3B-D2C6-8D5A-A4F6BDDC51A1}"/>
                  </a:ext>
                </a:extLst>
              </p:cNvPr>
              <p:cNvSpPr txBox="1"/>
              <p:nvPr/>
            </p:nvSpPr>
            <p:spPr>
              <a:xfrm>
                <a:off x="12729809" y="3643942"/>
                <a:ext cx="52552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MLP</a:t>
                </a:r>
              </a:p>
            </p:txBody>
          </p:sp>
        </p:grpSp>
        <p:cxnSp>
          <p:nvCxnSpPr>
            <p:cNvPr id="1069" name="直接箭头连接符 1068">
              <a:extLst>
                <a:ext uri="{FF2B5EF4-FFF2-40B4-BE49-F238E27FC236}">
                  <a16:creationId xmlns:a16="http://schemas.microsoft.com/office/drawing/2014/main" id="{EC063D3D-4525-49B4-2954-2CC62895D51F}"/>
                </a:ext>
              </a:extLst>
            </p:cNvPr>
            <p:cNvCxnSpPr>
              <a:cxnSpLocks/>
            </p:cNvCxnSpPr>
            <p:nvPr/>
          </p:nvCxnSpPr>
          <p:spPr>
            <a:xfrm>
              <a:off x="5273605" y="5113201"/>
              <a:ext cx="1689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070" name="图片 1069">
              <a:extLst>
                <a:ext uri="{FF2B5EF4-FFF2-40B4-BE49-F238E27FC236}">
                  <a16:creationId xmlns:a16="http://schemas.microsoft.com/office/drawing/2014/main" id="{8371FA1D-E22D-EB5B-F030-7598A8583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529006" y="4920381"/>
              <a:ext cx="124029" cy="124029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pic>
          <p:nvPicPr>
            <p:cNvPr id="1071" name="图片 1070">
              <a:extLst>
                <a:ext uri="{FF2B5EF4-FFF2-40B4-BE49-F238E27FC236}">
                  <a16:creationId xmlns:a16="http://schemas.microsoft.com/office/drawing/2014/main" id="{6A1800BE-C74B-556A-0591-A631FC075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9006" y="5165201"/>
              <a:ext cx="126891" cy="126891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pic>
          <p:nvPicPr>
            <p:cNvPr id="1072" name="Picture 247" descr="fire&quot; Icon - Download for free – Iconduck">
              <a:extLst>
                <a:ext uri="{FF2B5EF4-FFF2-40B4-BE49-F238E27FC236}">
                  <a16:creationId xmlns:a16="http://schemas.microsoft.com/office/drawing/2014/main" id="{B7230680-B922-579B-FEC7-77AA76E9C2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6855" y="4728641"/>
              <a:ext cx="148291" cy="2007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73" name="Picture 251" descr="Snow - Free weather icons">
              <a:extLst>
                <a:ext uri="{FF2B5EF4-FFF2-40B4-BE49-F238E27FC236}">
                  <a16:creationId xmlns:a16="http://schemas.microsoft.com/office/drawing/2014/main" id="{CBAE7D5E-E9A2-7956-ED9E-DD7FEBB05F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6439" y="4660288"/>
              <a:ext cx="232909" cy="2329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74" name="直接连接符 1073">
              <a:extLst>
                <a:ext uri="{FF2B5EF4-FFF2-40B4-BE49-F238E27FC236}">
                  <a16:creationId xmlns:a16="http://schemas.microsoft.com/office/drawing/2014/main" id="{14D86C03-0D65-7242-C540-8B0ED9780332}"/>
                </a:ext>
              </a:extLst>
            </p:cNvPr>
            <p:cNvCxnSpPr>
              <a:cxnSpLocks/>
            </p:cNvCxnSpPr>
            <p:nvPr/>
          </p:nvCxnSpPr>
          <p:spPr>
            <a:xfrm>
              <a:off x="192857" y="5733211"/>
              <a:ext cx="5503764" cy="0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5" name="直接连接符 1074">
              <a:extLst>
                <a:ext uri="{FF2B5EF4-FFF2-40B4-BE49-F238E27FC236}">
                  <a16:creationId xmlns:a16="http://schemas.microsoft.com/office/drawing/2014/main" id="{07D098E2-8D3B-34CB-2EE9-A9F07C16BECD}"/>
                </a:ext>
              </a:extLst>
            </p:cNvPr>
            <p:cNvCxnSpPr>
              <a:cxnSpLocks/>
            </p:cNvCxnSpPr>
            <p:nvPr/>
          </p:nvCxnSpPr>
          <p:spPr>
            <a:xfrm>
              <a:off x="3131968" y="4332943"/>
              <a:ext cx="0" cy="1345027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77" name="文本框 1076">
            <a:extLst>
              <a:ext uri="{FF2B5EF4-FFF2-40B4-BE49-F238E27FC236}">
                <a16:creationId xmlns:a16="http://schemas.microsoft.com/office/drawing/2014/main" id="{3731207F-27A9-DED6-CF81-E4FCCDADD81A}"/>
              </a:ext>
            </a:extLst>
          </p:cNvPr>
          <p:cNvSpPr txBox="1"/>
          <p:nvPr/>
        </p:nvSpPr>
        <p:spPr>
          <a:xfrm>
            <a:off x="4793394" y="5646764"/>
            <a:ext cx="37685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of Integrating LLM: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spatial understanding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inference cost</a:t>
            </a:r>
          </a:p>
        </p:txBody>
      </p:sp>
      <p:sp>
        <p:nvSpPr>
          <p:cNvPr id="1078" name="文本框 1077">
            <a:extLst>
              <a:ext uri="{FF2B5EF4-FFF2-40B4-BE49-F238E27FC236}">
                <a16:creationId xmlns:a16="http://schemas.microsoft.com/office/drawing/2014/main" id="{65D980E3-CC8A-9B47-79B9-D4F093EEA309}"/>
              </a:ext>
            </a:extLst>
          </p:cNvPr>
          <p:cNvSpPr txBox="1"/>
          <p:nvPr/>
        </p:nvSpPr>
        <p:spPr>
          <a:xfrm>
            <a:off x="379783" y="5646765"/>
            <a:ext cx="34311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Goal: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LLMs into GER accurately, efficiently, zero-shot</a:t>
            </a:r>
          </a:p>
        </p:txBody>
      </p:sp>
      <p:sp>
        <p:nvSpPr>
          <p:cNvPr id="1079" name="灯片编号占位符 3">
            <a:extLst>
              <a:ext uri="{FF2B5EF4-FFF2-40B4-BE49-F238E27FC236}">
                <a16:creationId xmlns:a16="http://schemas.microsoft.com/office/drawing/2014/main" id="{18E0BFF2-2A83-0D7C-D4FF-DF99DFB2D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486051"/>
            <a:ext cx="2057400" cy="365125"/>
          </a:xfrm>
        </p:spPr>
        <p:txBody>
          <a:bodyPr/>
          <a:lstStyle/>
          <a:p>
            <a:fld id="{94B6E62B-4DEC-4954-AD3A-658470571C9E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7597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101DF-EB9F-AB4E-ED6D-BD9383417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3">
            <a:extLst>
              <a:ext uri="{FF2B5EF4-FFF2-40B4-BE49-F238E27FC236}">
                <a16:creationId xmlns:a16="http://schemas.microsoft.com/office/drawing/2014/main" id="{64FE3E98-C18F-217D-4505-011989A9BE94}"/>
              </a:ext>
            </a:extLst>
          </p:cNvPr>
          <p:cNvSpPr txBox="1"/>
          <p:nvPr/>
        </p:nvSpPr>
        <p:spPr>
          <a:xfrm>
            <a:off x="0" y="-26988"/>
            <a:ext cx="9144000" cy="863601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951" name="直接连接符 19">
            <a:extLst>
              <a:ext uri="{FF2B5EF4-FFF2-40B4-BE49-F238E27FC236}">
                <a16:creationId xmlns:a16="http://schemas.microsoft.com/office/drawing/2014/main" id="{35FC7575-1C4F-47B6-93B5-659847343755}"/>
              </a:ext>
            </a:extLst>
          </p:cNvPr>
          <p:cNvCxnSpPr/>
          <p:nvPr/>
        </p:nvCxnSpPr>
        <p:spPr bwMode="auto">
          <a:xfrm flipH="1">
            <a:off x="449263" y="-25400"/>
            <a:ext cx="1587" cy="841375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2" name="直接连接符 20">
            <a:extLst>
              <a:ext uri="{FF2B5EF4-FFF2-40B4-BE49-F238E27FC236}">
                <a16:creationId xmlns:a16="http://schemas.microsoft.com/office/drawing/2014/main" id="{BD372F6A-79A5-7877-ED8A-2BBC72CF9312}"/>
              </a:ext>
            </a:extLst>
          </p:cNvPr>
          <p:cNvCxnSpPr/>
          <p:nvPr/>
        </p:nvCxnSpPr>
        <p:spPr bwMode="auto">
          <a:xfrm flipH="1">
            <a:off x="511175" y="-26988"/>
            <a:ext cx="1588" cy="554038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3" name="直接连接符 30">
            <a:extLst>
              <a:ext uri="{FF2B5EF4-FFF2-40B4-BE49-F238E27FC236}">
                <a16:creationId xmlns:a16="http://schemas.microsoft.com/office/drawing/2014/main" id="{B83A4AE1-CB19-C30D-3CFD-9CD01E4A2857}"/>
              </a:ext>
            </a:extLst>
          </p:cNvPr>
          <p:cNvCxnSpPr/>
          <p:nvPr/>
        </p:nvCxnSpPr>
        <p:spPr bwMode="auto">
          <a:xfrm>
            <a:off x="576263" y="-26988"/>
            <a:ext cx="0" cy="298451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Box 19">
            <a:extLst>
              <a:ext uri="{FF2B5EF4-FFF2-40B4-BE49-F238E27FC236}">
                <a16:creationId xmlns:a16="http://schemas.microsoft.com/office/drawing/2014/main" id="{D06A865E-875B-34C7-D2A5-9F6731996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42874"/>
            <a:ext cx="8342188" cy="55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Framework Overview</a:t>
            </a:r>
            <a:endParaRPr lang="zh-CN" altLang="en-US" sz="3000" b="1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B93A1D4C-0C51-2C46-1BC9-EB9F85EA3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486051"/>
            <a:ext cx="2057400" cy="365125"/>
          </a:xfrm>
        </p:spPr>
        <p:txBody>
          <a:bodyPr/>
          <a:lstStyle/>
          <a:p>
            <a:fld id="{94B6E62B-4DEC-4954-AD3A-658470571C9E}" type="slidenum">
              <a:rPr lang="zh-CN" altLang="en-US" smtClean="0"/>
              <a:t>3</a:t>
            </a:fld>
            <a:endParaRPr lang="zh-CN" altLang="en-US" dirty="0"/>
          </a:p>
        </p:txBody>
      </p:sp>
      <p:pic>
        <p:nvPicPr>
          <p:cNvPr id="40200" name="图片 40199">
            <a:extLst>
              <a:ext uri="{FF2B5EF4-FFF2-40B4-BE49-F238E27FC236}">
                <a16:creationId xmlns:a16="http://schemas.microsoft.com/office/drawing/2014/main" id="{AAD94CC9-4D20-6ABB-04DD-B22EFE5C6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1401285"/>
            <a:ext cx="8610600" cy="451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0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BCDC2-FB4E-89F8-0115-1D023C856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3">
            <a:extLst>
              <a:ext uri="{FF2B5EF4-FFF2-40B4-BE49-F238E27FC236}">
                <a16:creationId xmlns:a16="http://schemas.microsoft.com/office/drawing/2014/main" id="{7F23F62D-B0F7-91B2-4383-193E58E437EC}"/>
              </a:ext>
            </a:extLst>
          </p:cNvPr>
          <p:cNvSpPr txBox="1"/>
          <p:nvPr/>
        </p:nvSpPr>
        <p:spPr>
          <a:xfrm>
            <a:off x="0" y="-26988"/>
            <a:ext cx="9144000" cy="863601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951" name="直接连接符 19">
            <a:extLst>
              <a:ext uri="{FF2B5EF4-FFF2-40B4-BE49-F238E27FC236}">
                <a16:creationId xmlns:a16="http://schemas.microsoft.com/office/drawing/2014/main" id="{56C8353A-4DB2-3C1C-8348-6BCDBF31B9D9}"/>
              </a:ext>
            </a:extLst>
          </p:cNvPr>
          <p:cNvCxnSpPr/>
          <p:nvPr/>
        </p:nvCxnSpPr>
        <p:spPr bwMode="auto">
          <a:xfrm flipH="1">
            <a:off x="449263" y="-25400"/>
            <a:ext cx="1587" cy="841375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2" name="直接连接符 20">
            <a:extLst>
              <a:ext uri="{FF2B5EF4-FFF2-40B4-BE49-F238E27FC236}">
                <a16:creationId xmlns:a16="http://schemas.microsoft.com/office/drawing/2014/main" id="{759200B3-9C0D-8C06-F32F-A2D25BDF619F}"/>
              </a:ext>
            </a:extLst>
          </p:cNvPr>
          <p:cNvCxnSpPr/>
          <p:nvPr/>
        </p:nvCxnSpPr>
        <p:spPr bwMode="auto">
          <a:xfrm flipH="1">
            <a:off x="511175" y="-26988"/>
            <a:ext cx="1588" cy="554038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3" name="直接连接符 30">
            <a:extLst>
              <a:ext uri="{FF2B5EF4-FFF2-40B4-BE49-F238E27FC236}">
                <a16:creationId xmlns:a16="http://schemas.microsoft.com/office/drawing/2014/main" id="{048C9317-9A53-F604-C947-2E6E4C23CE87}"/>
              </a:ext>
            </a:extLst>
          </p:cNvPr>
          <p:cNvCxnSpPr/>
          <p:nvPr/>
        </p:nvCxnSpPr>
        <p:spPr bwMode="auto">
          <a:xfrm>
            <a:off x="576263" y="-26988"/>
            <a:ext cx="0" cy="298451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Box 19">
            <a:extLst>
              <a:ext uri="{FF2B5EF4-FFF2-40B4-BE49-F238E27FC236}">
                <a16:creationId xmlns:a16="http://schemas.microsoft.com/office/drawing/2014/main" id="{4FABEDDD-3CAF-0BE4-3379-84768B3B4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42874"/>
            <a:ext cx="8342188" cy="55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AOI-aware Spatial Blocking</a:t>
            </a:r>
            <a:endParaRPr lang="zh-CN" altLang="en-US" sz="3000" b="1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5E7B8AF9-B52A-C2B1-329F-FA80A63A5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486051"/>
            <a:ext cx="2057400" cy="365125"/>
          </a:xfrm>
        </p:spPr>
        <p:txBody>
          <a:bodyPr/>
          <a:lstStyle/>
          <a:p>
            <a:fld id="{94B6E62B-4DEC-4954-AD3A-658470571C9E}" type="slidenum">
              <a:rPr lang="zh-CN" altLang="en-US" smtClean="0"/>
              <a:t>4</a:t>
            </a:fld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D08FF26-936E-4285-44EF-DFB7778646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496"/>
          <a:stretch>
            <a:fillRect/>
          </a:stretch>
        </p:blipFill>
        <p:spPr>
          <a:xfrm>
            <a:off x="205740" y="1355804"/>
            <a:ext cx="4434840" cy="451961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311ADB4-4C95-D2D1-102E-152ED344AB76}"/>
              </a:ext>
            </a:extLst>
          </p:cNvPr>
          <p:cNvSpPr txBox="1"/>
          <p:nvPr/>
        </p:nvSpPr>
        <p:spPr>
          <a:xfrm>
            <a:off x="4640580" y="2085876"/>
            <a:ext cx="44348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functional Areas of Interest (AOIs) via a lightweight classifier.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AOI boundaries using a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density-based algorithm.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adaptive quadtree partitioning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that preserves both spatial proximity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and semantic continuity.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candidate pairs while keeping          spatially related POIs together.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824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7FA44-970F-0D9A-861F-157ACCFB4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3">
            <a:extLst>
              <a:ext uri="{FF2B5EF4-FFF2-40B4-BE49-F238E27FC236}">
                <a16:creationId xmlns:a16="http://schemas.microsoft.com/office/drawing/2014/main" id="{D2198EEE-9001-A3F3-6CCB-9906184BFCA8}"/>
              </a:ext>
            </a:extLst>
          </p:cNvPr>
          <p:cNvSpPr txBox="1"/>
          <p:nvPr/>
        </p:nvSpPr>
        <p:spPr>
          <a:xfrm>
            <a:off x="0" y="-26988"/>
            <a:ext cx="9144000" cy="863601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951" name="直接连接符 19">
            <a:extLst>
              <a:ext uri="{FF2B5EF4-FFF2-40B4-BE49-F238E27FC236}">
                <a16:creationId xmlns:a16="http://schemas.microsoft.com/office/drawing/2014/main" id="{68EF697F-CA8A-A867-2386-A34C08E4842D}"/>
              </a:ext>
            </a:extLst>
          </p:cNvPr>
          <p:cNvCxnSpPr/>
          <p:nvPr/>
        </p:nvCxnSpPr>
        <p:spPr bwMode="auto">
          <a:xfrm flipH="1">
            <a:off x="449263" y="-25400"/>
            <a:ext cx="1587" cy="841375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2" name="直接连接符 20">
            <a:extLst>
              <a:ext uri="{FF2B5EF4-FFF2-40B4-BE49-F238E27FC236}">
                <a16:creationId xmlns:a16="http://schemas.microsoft.com/office/drawing/2014/main" id="{C017EACE-6577-184C-5719-52BB6CBC1568}"/>
              </a:ext>
            </a:extLst>
          </p:cNvPr>
          <p:cNvCxnSpPr/>
          <p:nvPr/>
        </p:nvCxnSpPr>
        <p:spPr bwMode="auto">
          <a:xfrm flipH="1">
            <a:off x="511175" y="-26988"/>
            <a:ext cx="1588" cy="554038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3" name="直接连接符 30">
            <a:extLst>
              <a:ext uri="{FF2B5EF4-FFF2-40B4-BE49-F238E27FC236}">
                <a16:creationId xmlns:a16="http://schemas.microsoft.com/office/drawing/2014/main" id="{D5E4286F-9393-CD81-66C4-FCEC88E8470A}"/>
              </a:ext>
            </a:extLst>
          </p:cNvPr>
          <p:cNvCxnSpPr/>
          <p:nvPr/>
        </p:nvCxnSpPr>
        <p:spPr bwMode="auto">
          <a:xfrm>
            <a:off x="576263" y="-26988"/>
            <a:ext cx="0" cy="298451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Box 19">
            <a:extLst>
              <a:ext uri="{FF2B5EF4-FFF2-40B4-BE49-F238E27FC236}">
                <a16:creationId xmlns:a16="http://schemas.microsoft.com/office/drawing/2014/main" id="{EF46F364-229E-E2FD-B9B1-7E8602735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42874"/>
            <a:ext cx="8342188" cy="55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Group-wise Matching with LLM</a:t>
            </a:r>
            <a:endParaRPr lang="zh-CN" altLang="en-US" sz="3000" b="1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75D8AEE5-8F2B-140C-68C1-AB9B968B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486051"/>
            <a:ext cx="2057400" cy="365125"/>
          </a:xfrm>
        </p:spPr>
        <p:txBody>
          <a:bodyPr/>
          <a:lstStyle/>
          <a:p>
            <a:fld id="{94B6E62B-4DEC-4954-AD3A-658470571C9E}" type="slidenum">
              <a:rPr lang="zh-CN" altLang="en-US" smtClean="0"/>
              <a:t>5</a:t>
            </a:fld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96AB773-D65E-6CF7-00DD-59F50487F2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743"/>
          <a:stretch>
            <a:fillRect/>
          </a:stretch>
        </p:blipFill>
        <p:spPr>
          <a:xfrm>
            <a:off x="449263" y="1492964"/>
            <a:ext cx="4069080" cy="451961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0C0155D-28AF-C4DC-8232-8FBDDEB707AE}"/>
              </a:ext>
            </a:extLst>
          </p:cNvPr>
          <p:cNvSpPr txBox="1"/>
          <p:nvPr/>
        </p:nvSpPr>
        <p:spPr>
          <a:xfrm>
            <a:off x="4572000" y="1490614"/>
            <a:ext cx="44348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compute textual and spatial similarity for each candidate pair.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HDBSCAN Clustering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cluster pairs by similarity vectors.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Diversity-aware Group Prompting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sample diverse pairs from different clusters and evaluate them jointly.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Graph-based Conflict Resolution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apply the Hungarian algorithm to enforce one-to-one global alignment.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Fewer LLM calls, better consistency, and higher reasoning quality.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803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3"/>
          <p:cNvSpPr txBox="1"/>
          <p:nvPr/>
        </p:nvSpPr>
        <p:spPr>
          <a:xfrm>
            <a:off x="0" y="-26988"/>
            <a:ext cx="9144000" cy="863601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951" name="直接连接符 19"/>
          <p:cNvCxnSpPr/>
          <p:nvPr/>
        </p:nvCxnSpPr>
        <p:spPr bwMode="auto">
          <a:xfrm flipH="1">
            <a:off x="449263" y="-25400"/>
            <a:ext cx="1587" cy="841375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2" name="直接连接符 20"/>
          <p:cNvCxnSpPr/>
          <p:nvPr/>
        </p:nvCxnSpPr>
        <p:spPr bwMode="auto">
          <a:xfrm flipH="1">
            <a:off x="511175" y="-26988"/>
            <a:ext cx="1588" cy="554038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3" name="直接连接符 30"/>
          <p:cNvCxnSpPr/>
          <p:nvPr/>
        </p:nvCxnSpPr>
        <p:spPr bwMode="auto">
          <a:xfrm>
            <a:off x="576263" y="-26988"/>
            <a:ext cx="0" cy="298451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Box 19"/>
          <p:cNvSpPr txBox="1">
            <a:spLocks noChangeArrowheads="1"/>
          </p:cNvSpPr>
          <p:nvPr/>
        </p:nvSpPr>
        <p:spPr bwMode="auto">
          <a:xfrm>
            <a:off x="622300" y="142874"/>
            <a:ext cx="8342188" cy="55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Experimental Results</a:t>
            </a:r>
            <a:endParaRPr lang="zh-CN" altLang="en-US" sz="3000" b="1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18E232E9-9E00-1EDD-5165-286F3D5D5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4B6E62B-4DEC-4954-AD3A-658470571C9E}" type="slidenum">
              <a:rPr lang="zh-CN" altLang="en-US" smtClean="0"/>
              <a:t>6</a:t>
            </a:fld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641C487-1C88-82FB-3D27-0A5C2EBEF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810" y="1083256"/>
            <a:ext cx="6088380" cy="274885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FA4FDE9-F907-5638-FC32-B6524039FF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9963"/>
          <a:stretch>
            <a:fillRect/>
          </a:stretch>
        </p:blipFill>
        <p:spPr>
          <a:xfrm>
            <a:off x="576263" y="4139565"/>
            <a:ext cx="3539490" cy="202501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76F8BD22-9A54-5EAF-6EE9-0CFF59E091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822"/>
          <a:stretch>
            <a:fillRect/>
          </a:stretch>
        </p:blipFill>
        <p:spPr>
          <a:xfrm>
            <a:off x="4793394" y="4139565"/>
            <a:ext cx="3539490" cy="19093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AAD31-BE08-EB90-3390-92152CEA2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3">
            <a:extLst>
              <a:ext uri="{FF2B5EF4-FFF2-40B4-BE49-F238E27FC236}">
                <a16:creationId xmlns:a16="http://schemas.microsoft.com/office/drawing/2014/main" id="{461D485C-3576-4512-E018-895F8ED8EDC5}"/>
              </a:ext>
            </a:extLst>
          </p:cNvPr>
          <p:cNvSpPr txBox="1"/>
          <p:nvPr/>
        </p:nvSpPr>
        <p:spPr>
          <a:xfrm>
            <a:off x="0" y="-26988"/>
            <a:ext cx="9144000" cy="863601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951" name="直接连接符 19">
            <a:extLst>
              <a:ext uri="{FF2B5EF4-FFF2-40B4-BE49-F238E27FC236}">
                <a16:creationId xmlns:a16="http://schemas.microsoft.com/office/drawing/2014/main" id="{9681B3D8-2219-6FC1-0EA4-77E5F3A40E8C}"/>
              </a:ext>
            </a:extLst>
          </p:cNvPr>
          <p:cNvCxnSpPr/>
          <p:nvPr/>
        </p:nvCxnSpPr>
        <p:spPr bwMode="auto">
          <a:xfrm flipH="1">
            <a:off x="449263" y="-25400"/>
            <a:ext cx="1587" cy="841375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2" name="直接连接符 20">
            <a:extLst>
              <a:ext uri="{FF2B5EF4-FFF2-40B4-BE49-F238E27FC236}">
                <a16:creationId xmlns:a16="http://schemas.microsoft.com/office/drawing/2014/main" id="{A9871662-0B9F-C802-CF8C-31E7ABCC6903}"/>
              </a:ext>
            </a:extLst>
          </p:cNvPr>
          <p:cNvCxnSpPr/>
          <p:nvPr/>
        </p:nvCxnSpPr>
        <p:spPr bwMode="auto">
          <a:xfrm flipH="1">
            <a:off x="511175" y="-26988"/>
            <a:ext cx="1588" cy="554038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3" name="直接连接符 30">
            <a:extLst>
              <a:ext uri="{FF2B5EF4-FFF2-40B4-BE49-F238E27FC236}">
                <a16:creationId xmlns:a16="http://schemas.microsoft.com/office/drawing/2014/main" id="{B463735C-2B81-7766-891F-2FA8F7F81F6F}"/>
              </a:ext>
            </a:extLst>
          </p:cNvPr>
          <p:cNvCxnSpPr/>
          <p:nvPr/>
        </p:nvCxnSpPr>
        <p:spPr bwMode="auto">
          <a:xfrm>
            <a:off x="576263" y="-26988"/>
            <a:ext cx="0" cy="298451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Box 19">
            <a:extLst>
              <a:ext uri="{FF2B5EF4-FFF2-40B4-BE49-F238E27FC236}">
                <a16:creationId xmlns:a16="http://schemas.microsoft.com/office/drawing/2014/main" id="{0F9FA908-626A-DE71-C7DB-27C872A38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42874"/>
            <a:ext cx="8342188" cy="55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Ablation Studies</a:t>
            </a:r>
            <a:endParaRPr lang="zh-CN" altLang="en-US" sz="3000" b="1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E4BAD395-9546-870C-17BA-9D7971F0E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10414001"/>
            <a:ext cx="2057400" cy="365125"/>
          </a:xfrm>
        </p:spPr>
        <p:txBody>
          <a:bodyPr/>
          <a:lstStyle/>
          <a:p>
            <a:fld id="{94B6E62B-4DEC-4954-AD3A-658470571C9E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868870DD-8554-FC31-24C0-C2ADFC9A5E2F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B6E62B-4DEC-4954-AD3A-658470571C9E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AE9DEA1-209D-2E54-3D56-6BA7662348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113"/>
          <a:stretch>
            <a:fillRect/>
          </a:stretch>
        </p:blipFill>
        <p:spPr>
          <a:xfrm>
            <a:off x="449262" y="3776791"/>
            <a:ext cx="3780282" cy="217542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7B5727FC-061E-E752-87BA-E4038EAFE5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8377"/>
          <a:stretch>
            <a:fillRect/>
          </a:stretch>
        </p:blipFill>
        <p:spPr>
          <a:xfrm>
            <a:off x="449262" y="1444976"/>
            <a:ext cx="3780282" cy="177937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10E49F4B-E6B4-2124-5914-919D51C4B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458" y="1872753"/>
            <a:ext cx="3967482" cy="380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664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3"/>
          <p:cNvSpPr txBox="1"/>
          <p:nvPr/>
        </p:nvSpPr>
        <p:spPr>
          <a:xfrm>
            <a:off x="0" y="-26988"/>
            <a:ext cx="9144000" cy="863601"/>
          </a:xfrm>
          <a:prstGeom prst="rect">
            <a:avLst/>
          </a:prstGeom>
          <a:solidFill>
            <a:srgbClr val="02409A"/>
          </a:solidFill>
          <a:ln>
            <a:noFill/>
          </a:ln>
          <a:effectLst/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951" name="直接连接符 19"/>
          <p:cNvCxnSpPr/>
          <p:nvPr/>
        </p:nvCxnSpPr>
        <p:spPr bwMode="auto">
          <a:xfrm flipH="1">
            <a:off x="449263" y="-25400"/>
            <a:ext cx="1587" cy="841375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2" name="直接连接符 20"/>
          <p:cNvCxnSpPr/>
          <p:nvPr/>
        </p:nvCxnSpPr>
        <p:spPr bwMode="auto">
          <a:xfrm flipH="1">
            <a:off x="511175" y="-26988"/>
            <a:ext cx="1588" cy="554038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3" name="直接连接符 30"/>
          <p:cNvCxnSpPr/>
          <p:nvPr/>
        </p:nvCxnSpPr>
        <p:spPr bwMode="auto">
          <a:xfrm>
            <a:off x="576263" y="-26988"/>
            <a:ext cx="0" cy="298451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Box 19"/>
          <p:cNvSpPr txBox="1">
            <a:spLocks noChangeArrowheads="1"/>
          </p:cNvSpPr>
          <p:nvPr/>
        </p:nvSpPr>
        <p:spPr bwMode="auto">
          <a:xfrm>
            <a:off x="622300" y="142874"/>
            <a:ext cx="8342188" cy="55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Conclusion</a:t>
            </a:r>
            <a:endParaRPr lang="zh-CN" altLang="en-US" sz="3000" b="1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6457950" y="10414001"/>
            <a:ext cx="2057400" cy="365125"/>
          </a:xfrm>
        </p:spPr>
        <p:txBody>
          <a:bodyPr/>
          <a:lstStyle/>
          <a:p>
            <a:fld id="{94B6E62B-4DEC-4954-AD3A-658470571C9E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灯片编号占位符 3"/>
          <p:cNvSpPr txBox="1"/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B6E62B-4DEC-4954-AD3A-658470571C9E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F01CDB-E59F-0653-E1DE-2241570FC4DE}"/>
              </a:ext>
            </a:extLst>
          </p:cNvPr>
          <p:cNvSpPr txBox="1"/>
          <p:nvPr/>
        </p:nvSpPr>
        <p:spPr>
          <a:xfrm>
            <a:off x="449263" y="1006475"/>
            <a:ext cx="863377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framework to integrate LLMs into 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AOI-aware spatial blocking and group-wise LLM matching with conflict resolution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SOTA performance on three real-world datasets with significant efficiency gains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City-scale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or more resource-efficient LLMs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https://github.com/luck-seu/GER-LLM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75B9C8FD-36EF-7F02-7DA4-2DE486B93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5143101"/>
            <a:ext cx="3948916" cy="121325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CEA30425-7537-E292-6B00-57021E1EA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075240"/>
            <a:ext cx="821055" cy="82334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F921917-1F82-43F2-1834-5CD332FA8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75" y="5143101"/>
            <a:ext cx="3073353" cy="12167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0" y="2277691"/>
            <a:ext cx="9144000" cy="1943844"/>
          </a:xfrm>
          <a:prstGeom prst="rect">
            <a:avLst/>
          </a:prstGeom>
          <a:solidFill>
            <a:srgbClr val="02409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zh-CN" altLang="en-US" sz="4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2464783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4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感谢各位老师和同学！</a:t>
            </a:r>
          </a:p>
          <a:p>
            <a:pPr algn="ctr">
              <a:defRPr/>
            </a:pPr>
            <a:r>
              <a:rPr lang="zh-CN" altLang="en-US" sz="4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请大家提出宝贵意见！</a:t>
            </a: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06" y="355983"/>
            <a:ext cx="2303462" cy="76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6E62B-4DEC-4954-AD3A-658470571C9E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5203</TotalTime>
  <Words>382</Words>
  <Application>Microsoft Office PowerPoint</Application>
  <PresentationFormat>全屏显示(4:3)</PresentationFormat>
  <Paragraphs>98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-apple-system</vt:lpstr>
      <vt:lpstr>NimbusRomNo9L-Regu</vt:lpstr>
      <vt:lpstr>等线</vt:lpstr>
      <vt:lpstr>等线</vt:lpstr>
      <vt:lpstr>微软雅黑</vt:lpstr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213181642@seu.edu.cn</dc:creator>
  <cp:lastModifiedBy>Zhicheng</cp:lastModifiedBy>
  <cp:revision>928</cp:revision>
  <dcterms:created xsi:type="dcterms:W3CDTF">2024-09-20T09:25:08Z</dcterms:created>
  <dcterms:modified xsi:type="dcterms:W3CDTF">2026-04-09T10:10:08Z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D20C3B50A2D46AF24A750566B93C09E9_42</vt:lpwstr>
  </property>
  <property fmtid="{D5CDD505-2E9C-101B-9397-08002B2CF9AE}" pid="3" name="KSOProductBuildVer">
    <vt:lpwstr>2052-6.8.2.8850</vt:lpwstr>
  </property>
</Properties>
</file>